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ITIK99\Downloads\Project-3(Bare%20International%20Analysis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ITIK99\Downloads\Project-3(Bare%20International%20Analysis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ITIK99\Downloads\Project-3(Bare%20International%20Analysis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ITIK99\Downloads\Project-3(Bare%20International%20Analysis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RITIK99\Downloads\Project-3(Bare%20International%20Analysis)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ITIK99\Downloads\Project-3(Bare%20International%20Analysis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ITIK99\Downloads\Project-3(Bare%20International%20Analysis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11C-4081-AC4F-9A53CD9C4E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11C-4081-AC4F-9A53CD9C4E4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11C-4081-AC4F-9A53CD9C4E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00733599"/>
        <c:axId val="1000750399"/>
      </c:lineChart>
      <c:catAx>
        <c:axId val="100073359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00750399"/>
        <c:crosses val="autoZero"/>
        <c:auto val="1"/>
        <c:lblAlgn val="ctr"/>
        <c:lblOffset val="100"/>
        <c:noMultiLvlLbl val="0"/>
      </c:catAx>
      <c:valAx>
        <c:axId val="100075039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007335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EC-4ED5-B2D2-4B06B2A73E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8EC-4ED5-B2D2-4B06B2A73E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8EC-4ED5-B2D2-4B06B2A73E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00753279"/>
        <c:axId val="1000753759"/>
      </c:barChart>
      <c:catAx>
        <c:axId val="10007532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00753759"/>
        <c:crosses val="autoZero"/>
        <c:auto val="1"/>
        <c:lblAlgn val="ctr"/>
        <c:lblOffset val="100"/>
        <c:noMultiLvlLbl val="0"/>
      </c:catAx>
      <c:valAx>
        <c:axId val="100075375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007532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pivotSource>
    <c:name>[Project-3(Bare International Analysis).xlsx]Sheet2!PivotTable1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</a:t>
            </a:r>
            <a:r>
              <a:rPr lang="en-US" baseline="0"/>
              <a:t> score of each zone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Sheet2!$A$2:$A$6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Sheet2!$B$2:$B$6</c:f>
              <c:numCache>
                <c:formatCode>General</c:formatCode>
                <c:ptCount val="4"/>
                <c:pt idx="0">
                  <c:v>7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A4-45B8-8984-FB6ECCB8BC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547712"/>
        <c:axId val="130547232"/>
      </c:barChart>
      <c:catAx>
        <c:axId val="13054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547232"/>
        <c:crosses val="autoZero"/>
        <c:auto val="1"/>
        <c:lblAlgn val="ctr"/>
        <c:lblOffset val="100"/>
        <c:noMultiLvlLbl val="0"/>
      </c:catAx>
      <c:valAx>
        <c:axId val="130547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547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[Project-3(Bare International Analysis).xlsx]Qs)Part-3!PivotTable2</c:name>
    <c:fmtId val="14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'Qs)Part-3'!$B$3:$B$4</c:f>
              <c:strCache>
                <c:ptCount val="1"/>
                <c:pt idx="0">
                  <c:v>Average Performer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'Qs)Part-3'!$B$5:$B$9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0.47368421052631576</c:v>
                </c:pt>
                <c:pt idx="2">
                  <c:v>0.3888888888888889</c:v>
                </c:pt>
                <c:pt idx="3">
                  <c:v>0.58823529411764708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FFF-47C4-9156-471C3D9D1852}"/>
            </c:ext>
          </c:extLst>
        </c:ser>
        <c:ser>
          <c:idx val="1"/>
          <c:order val="1"/>
          <c:tx>
            <c:strRef>
              <c:f>'Qs)Part-3'!$C$3:$C$4</c:f>
              <c:strCache>
                <c:ptCount val="1"/>
                <c:pt idx="0">
                  <c:v>Bottom Performer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'Qs)Part-3'!$C$5:$C$9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5.2631578947368418E-2</c:v>
                </c:pt>
                <c:pt idx="2">
                  <c:v>0.16666666666666666</c:v>
                </c:pt>
                <c:pt idx="3">
                  <c:v>0.17647058823529413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FFF-47C4-9156-471C3D9D1852}"/>
            </c:ext>
          </c:extLst>
        </c:ser>
        <c:ser>
          <c:idx val="2"/>
          <c:order val="2"/>
          <c:tx>
            <c:strRef>
              <c:f>'Qs)Part-3'!$D$3:$D$4</c:f>
              <c:strCache>
                <c:ptCount val="1"/>
                <c:pt idx="0">
                  <c:v>High Performer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'Qs)Part-3'!$D$5:$D$9</c:f>
              <c:numCache>
                <c:formatCode>0.00%</c:formatCode>
                <c:ptCount val="4"/>
                <c:pt idx="0">
                  <c:v>0.2857142857142857</c:v>
                </c:pt>
                <c:pt idx="1">
                  <c:v>0.21052631578947367</c:v>
                </c:pt>
                <c:pt idx="2">
                  <c:v>0.1111111111111111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FFF-47C4-9156-471C3D9D1852}"/>
            </c:ext>
          </c:extLst>
        </c:ser>
        <c:ser>
          <c:idx val="3"/>
          <c:order val="3"/>
          <c:tx>
            <c:strRef>
              <c:f>'Qs)Part-3'!$E$3:$E$4</c:f>
              <c:strCache>
                <c:ptCount val="1"/>
                <c:pt idx="0">
                  <c:v>Low Performer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'Qs)Part-3'!$E$5:$E$9</c:f>
              <c:numCache>
                <c:formatCode>0.00%</c:formatCode>
                <c:ptCount val="4"/>
                <c:pt idx="0">
                  <c:v>0.42857142857142855</c:v>
                </c:pt>
                <c:pt idx="1">
                  <c:v>0.26315789473684209</c:v>
                </c:pt>
                <c:pt idx="2">
                  <c:v>0.33333333333333331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FFF-47C4-9156-471C3D9D18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56944"/>
        <c:axId val="45957424"/>
      </c:barChart>
      <c:catAx>
        <c:axId val="4595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57424"/>
        <c:crosses val="autoZero"/>
        <c:auto val="1"/>
        <c:lblAlgn val="ctr"/>
        <c:lblOffset val="100"/>
        <c:noMultiLvlLbl val="0"/>
      </c:catAx>
      <c:valAx>
        <c:axId val="45957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5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[Project-3(Bare International Analysis).xlsx]Sheet2!PivotTable1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Average</a:t>
            </a:r>
            <a:r>
              <a:rPr lang="en-US" baseline="0"/>
              <a:t> score of each zone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7.4067279254772342E-2"/>
          <c:y val="0.15127556846189269"/>
          <c:w val="0.89995510823295544"/>
          <c:h val="0.7045152490425280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Sheet2!$A$2:$A$6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Sheet2!$B$2:$B$6</c:f>
              <c:numCache>
                <c:formatCode>General</c:formatCode>
                <c:ptCount val="4"/>
                <c:pt idx="0">
                  <c:v>7</c:v>
                </c:pt>
                <c:pt idx="1">
                  <c:v>19</c:v>
                </c:pt>
                <c:pt idx="2">
                  <c:v>18</c:v>
                </c:pt>
                <c:pt idx="3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54-419A-8E9A-ACB2E49511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0547712"/>
        <c:axId val="130547232"/>
      </c:barChart>
      <c:catAx>
        <c:axId val="13054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547232"/>
        <c:crosses val="autoZero"/>
        <c:auto val="1"/>
        <c:lblAlgn val="ctr"/>
        <c:lblOffset val="100"/>
        <c:noMultiLvlLbl val="0"/>
      </c:catAx>
      <c:valAx>
        <c:axId val="1305472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0547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circle"/>
          <c:size val="6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dLbl>
          <c:idx val="0"/>
          <c:dLblPos val="inEnd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19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0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1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2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4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5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  <c:pivotFmt>
        <c:idx val="26"/>
        <c:spPr>
          <a:solidFill>
            <a:schemeClr val="accent1"/>
          </a:solidFill>
          <a:ln>
            <a:noFill/>
          </a:ln>
          <a:effectLst>
            <a:outerShdw blurRad="317500" algn="ctr" rotWithShape="0">
              <a:prstClr val="black">
                <a:alpha val="25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v>High Performer</c:v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F10-4CA6-9716-F2A96BCFA59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CF10-4CA6-9716-F2A96BCFA59F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CF10-4CA6-9716-F2A96BCFA59F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CF10-4CA6-9716-F2A96BCFA59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Lit>
              <c:ptCount val="4"/>
              <c:pt idx="0">
                <c:v>East</c:v>
              </c:pt>
              <c:pt idx="1">
                <c:v>North</c:v>
              </c:pt>
              <c:pt idx="2">
                <c:v>South</c:v>
              </c:pt>
              <c:pt idx="3">
                <c:v>West</c:v>
              </c:pt>
            </c:strLit>
          </c:cat>
          <c:val>
            <c:numLit>
              <c:formatCode>General</c:formatCode>
              <c:ptCount val="4"/>
              <c:pt idx="0">
                <c:v>190</c:v>
              </c:pt>
              <c:pt idx="1">
                <c:v>382</c:v>
              </c:pt>
              <c:pt idx="2">
                <c:v>184</c:v>
              </c:pt>
              <c:pt idx="3">
                <c:v>184</c:v>
              </c:pt>
            </c:numLit>
          </c:val>
          <c:extLst>
            <c:ext xmlns:c16="http://schemas.microsoft.com/office/drawing/2014/chart" uri="{C3380CC4-5D6E-409C-BE32-E72D297353CC}">
              <c16:uniqueId val="{00000008-CF10-4CA6-9716-F2A96BCFA59F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[Project-3(Bare International Analysis).xlsx]Qs)Part-4 Visualizations-1!PivotTable3</c:name>
    <c:fmtId val="14"/>
  </c:pivotSource>
  <c:chart>
    <c:title>
      <c:overlay val="0"/>
    </c:title>
    <c:autoTitleDeleted val="0"/>
    <c:pivotFmts>
      <c:pivotFmt>
        <c:idx val="0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rAngAx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'Qs)Part-4 Visualizations-1'!$B$1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cat>
            <c:strRef>
              <c:f>'Qs)Part-4 Visualizations-1'!$A$2:$A$6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'Qs)Part-4 Visualizations-1'!$B$2:$B$6</c:f>
              <c:numCache>
                <c:formatCode>General</c:formatCode>
                <c:ptCount val="4"/>
                <c:pt idx="0">
                  <c:v>71.571428571428569</c:v>
                </c:pt>
                <c:pt idx="1">
                  <c:v>76.736842105263165</c:v>
                </c:pt>
                <c:pt idx="2">
                  <c:v>66.611111111111114</c:v>
                </c:pt>
                <c:pt idx="3">
                  <c:v>71.82352941176471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A3-4A18-933C-0D001D66B9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20480256"/>
        <c:axId val="220481792"/>
        <c:axId val="0"/>
      </c:bar3DChart>
      <c:catAx>
        <c:axId val="22048025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20481792"/>
        <c:crosses val="autoZero"/>
        <c:auto val="1"/>
        <c:lblAlgn val="ctr"/>
        <c:lblOffset val="100"/>
        <c:noMultiLvlLbl val="0"/>
      </c:catAx>
      <c:valAx>
        <c:axId val="22048179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2048025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spPr>
    <a:ln>
      <a:gradFill>
        <a:gsLst>
          <a:gs pos="0">
            <a:schemeClr val="accent1">
              <a:tint val="66000"/>
              <a:satMod val="160000"/>
            </a:schemeClr>
          </a:gs>
          <a:gs pos="50000">
            <a:schemeClr val="accent1">
              <a:tint val="44500"/>
              <a:satMod val="160000"/>
            </a:schemeClr>
          </a:gs>
          <a:gs pos="100000">
            <a:schemeClr val="accent1">
              <a:tint val="23500"/>
              <a:satMod val="160000"/>
            </a:schemeClr>
          </a:gs>
        </a:gsLst>
        <a:lin ang="5400000" scaled="0"/>
      </a:gradFill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22"/>
              <c:pt idx="0">
                <c:v>2022-10-01</c:v>
              </c:pt>
              <c:pt idx="1">
                <c:v>2022-10-06</c:v>
              </c:pt>
              <c:pt idx="2">
                <c:v>2022-10-07</c:v>
              </c:pt>
              <c:pt idx="3">
                <c:v>2022-10-08</c:v>
              </c:pt>
              <c:pt idx="4">
                <c:v>2022-10-10</c:v>
              </c:pt>
              <c:pt idx="5">
                <c:v>2022-10-11</c:v>
              </c:pt>
              <c:pt idx="6">
                <c:v>2022-10-12</c:v>
              </c:pt>
              <c:pt idx="7">
                <c:v>2022-10-13</c:v>
              </c:pt>
              <c:pt idx="8">
                <c:v>2022-10-14</c:v>
              </c:pt>
              <c:pt idx="9">
                <c:v>2022-10-15</c:v>
              </c:pt>
              <c:pt idx="10">
                <c:v>2022-10-16</c:v>
              </c:pt>
              <c:pt idx="11">
                <c:v>2022-10-17</c:v>
              </c:pt>
              <c:pt idx="12">
                <c:v>2022-10-18</c:v>
              </c:pt>
              <c:pt idx="13">
                <c:v>2022-10-19</c:v>
              </c:pt>
              <c:pt idx="14">
                <c:v>2022-10-20</c:v>
              </c:pt>
              <c:pt idx="15">
                <c:v>2022-10-21</c:v>
              </c:pt>
              <c:pt idx="16">
                <c:v>2022-10-22</c:v>
              </c:pt>
              <c:pt idx="17">
                <c:v>2022-10-23</c:v>
              </c:pt>
              <c:pt idx="18">
                <c:v>2022-10-27</c:v>
              </c:pt>
              <c:pt idx="19">
                <c:v>2022-10-28</c:v>
              </c:pt>
              <c:pt idx="20">
                <c:v>2022-10-29</c:v>
              </c:pt>
              <c:pt idx="21">
                <c:v>2022-10-30</c:v>
              </c:pt>
            </c:strLit>
          </c:cat>
          <c:val>
            <c:numLit>
              <c:formatCode>General</c:formatCode>
              <c:ptCount val="22"/>
              <c:pt idx="0">
                <c:v>58</c:v>
              </c:pt>
              <c:pt idx="1">
                <c:v>68.5</c:v>
              </c:pt>
              <c:pt idx="2">
                <c:v>85.666666666666671</c:v>
              </c:pt>
              <c:pt idx="3">
                <c:v>72.333333333333329</c:v>
              </c:pt>
              <c:pt idx="4">
                <c:v>78</c:v>
              </c:pt>
              <c:pt idx="5">
                <c:v>73</c:v>
              </c:pt>
              <c:pt idx="6">
                <c:v>83.333333333333329</c:v>
              </c:pt>
              <c:pt idx="7">
                <c:v>63.5</c:v>
              </c:pt>
              <c:pt idx="8">
                <c:v>72</c:v>
              </c:pt>
              <c:pt idx="9">
                <c:v>66</c:v>
              </c:pt>
              <c:pt idx="10">
                <c:v>69</c:v>
              </c:pt>
              <c:pt idx="11">
                <c:v>86</c:v>
              </c:pt>
              <c:pt idx="12">
                <c:v>69.333333333333329</c:v>
              </c:pt>
              <c:pt idx="13">
                <c:v>52</c:v>
              </c:pt>
              <c:pt idx="14">
                <c:v>90.666666666666671</c:v>
              </c:pt>
              <c:pt idx="15">
                <c:v>71</c:v>
              </c:pt>
              <c:pt idx="16">
                <c:v>69</c:v>
              </c:pt>
              <c:pt idx="17">
                <c:v>53</c:v>
              </c:pt>
              <c:pt idx="18">
                <c:v>94</c:v>
              </c:pt>
              <c:pt idx="19">
                <c:v>74.5</c:v>
              </c:pt>
              <c:pt idx="20">
                <c:v>65</c:v>
              </c:pt>
              <c:pt idx="21">
                <c:v>48.333333333333336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B014-4D7D-870D-808B67B796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302448"/>
        <c:axId val="141304368"/>
      </c:lineChart>
      <c:catAx>
        <c:axId val="141302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304368"/>
        <c:crosses val="autoZero"/>
        <c:auto val="1"/>
        <c:lblAlgn val="ctr"/>
        <c:lblOffset val="100"/>
        <c:noMultiLvlLbl val="0"/>
      </c:catAx>
      <c:valAx>
        <c:axId val="14130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302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[Project-3(Bare International Analysis).xlsx]Qs)Part-3!PivotTable2</c:name>
    <c:fmtId val="1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1035650452986339E-2"/>
          <c:y val="4.6636512617062822E-2"/>
          <c:w val="0.87944610171735704"/>
          <c:h val="0.855010186923282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'Qs)Part-3'!$B$3:$B$4</c:f>
              <c:strCache>
                <c:ptCount val="1"/>
                <c:pt idx="0">
                  <c:v>Average Performer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'Qs)Part-3'!$B$5:$B$9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0.47368421052631576</c:v>
                </c:pt>
                <c:pt idx="2">
                  <c:v>0.3888888888888889</c:v>
                </c:pt>
                <c:pt idx="3">
                  <c:v>0.58823529411764708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2DC-42F9-B0CC-892BBD76F5C8}"/>
            </c:ext>
          </c:extLst>
        </c:ser>
        <c:ser>
          <c:idx val="1"/>
          <c:order val="1"/>
          <c:tx>
            <c:strRef>
              <c:f>'Qs)Part-3'!$C$3:$C$4</c:f>
              <c:strCache>
                <c:ptCount val="1"/>
                <c:pt idx="0">
                  <c:v>Bottom Performer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'Qs)Part-3'!$C$5:$C$9</c:f>
              <c:numCache>
                <c:formatCode>0.00%</c:formatCode>
                <c:ptCount val="4"/>
                <c:pt idx="0">
                  <c:v>0.14285714285714285</c:v>
                </c:pt>
                <c:pt idx="1">
                  <c:v>5.2631578947368418E-2</c:v>
                </c:pt>
                <c:pt idx="2">
                  <c:v>0.16666666666666666</c:v>
                </c:pt>
                <c:pt idx="3">
                  <c:v>0.17647058823529413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2DC-42F9-B0CC-892BBD76F5C8}"/>
            </c:ext>
          </c:extLst>
        </c:ser>
        <c:ser>
          <c:idx val="2"/>
          <c:order val="2"/>
          <c:tx>
            <c:strRef>
              <c:f>'Qs)Part-3'!$D$3:$D$4</c:f>
              <c:strCache>
                <c:ptCount val="1"/>
                <c:pt idx="0">
                  <c:v>High Performer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'Qs)Part-3'!$D$5:$D$9</c:f>
              <c:numCache>
                <c:formatCode>0.00%</c:formatCode>
                <c:ptCount val="4"/>
                <c:pt idx="0">
                  <c:v>0.2857142857142857</c:v>
                </c:pt>
                <c:pt idx="1">
                  <c:v>0.21052631578947367</c:v>
                </c:pt>
                <c:pt idx="2">
                  <c:v>0.1111111111111111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2DC-42F9-B0CC-892BBD76F5C8}"/>
            </c:ext>
          </c:extLst>
        </c:ser>
        <c:ser>
          <c:idx val="3"/>
          <c:order val="3"/>
          <c:tx>
            <c:strRef>
              <c:f>'Qs)Part-3'!$E$3:$E$4</c:f>
              <c:strCache>
                <c:ptCount val="1"/>
                <c:pt idx="0">
                  <c:v>Low Performer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'Qs)Part-3'!$A$5:$A$9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'Qs)Part-3'!$E$5:$E$9</c:f>
              <c:numCache>
                <c:formatCode>0.00%</c:formatCode>
                <c:ptCount val="4"/>
                <c:pt idx="0">
                  <c:v>0.42857142857142855</c:v>
                </c:pt>
                <c:pt idx="1">
                  <c:v>0.26315789473684209</c:v>
                </c:pt>
                <c:pt idx="2">
                  <c:v>0.33333333333333331</c:v>
                </c:pt>
                <c:pt idx="3">
                  <c:v>0.11764705882352941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2DC-42F9-B0CC-892BBD76F5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956944"/>
        <c:axId val="45957424"/>
      </c:barChart>
      <c:catAx>
        <c:axId val="45956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57424"/>
        <c:crosses val="autoZero"/>
        <c:auto val="1"/>
        <c:lblAlgn val="ctr"/>
        <c:lblOffset val="100"/>
        <c:noMultiLvlLbl val="0"/>
      </c:catAx>
      <c:valAx>
        <c:axId val="45957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956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38853902113945188"/>
          <c:y val="5.5892040980041108E-2"/>
          <c:w val="0.35830582664580296"/>
          <c:h val="0.3073790179759219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D983-FFA1-F0EE-B518-0799E496E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235985-AC1B-C4B1-7F51-023AFD5F6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F7C66-C067-3394-F95D-9C41AFCE0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42560-B6BC-32EC-FE93-BE59E235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ED4CB-3387-469A-0B0E-245F5F1D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029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78174-20B0-AF31-F340-81C373D8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3D382-A711-4C7A-8DBC-498C6828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F3A46-328F-B532-7259-43CE86DC7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E4188-2BB3-4A11-F445-20150BA32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849C0-70AB-12CC-5489-7627457A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178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B2908-C370-321B-A5E6-8D1DF652D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84D70-651D-F758-4F9F-5E60DFC8F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C3DE1-BD33-01C0-4AAD-5A4BA333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893A1-D4D0-4EA4-8B83-121C9087F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AC1AF-EA7B-F5C8-B602-F98F167E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135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DBC64-BFF0-BCB6-A4E1-A25728AE1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1DFCA-C7EA-4288-0047-92D9A5A555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8695F-F7F7-3CF2-35BB-7B42BACBA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F5D98-411A-BD56-91F3-24269E5F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3F57D-A4C2-2266-8A74-BF0C24F94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62735-81F5-CE6A-29AB-8060228D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7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B916A-7B00-5304-5CA9-AA634A2F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0F6B1-BAAF-1265-5F6B-BCB501EEE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4A4BB-BEF8-C5DC-B014-956EC3358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07255-C4D8-B1C2-5A81-995BC7B26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E970C1-98F4-4425-424D-92D0988659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B72A3-96F5-98AC-6F84-CCF27A55C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D16D0D3-8B75-FCAE-E9AF-806133830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7C5BF9-7666-4A11-4C13-4EE0780B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2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3E3D-EF78-9916-9FFD-DB6485D11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F91095-E34E-9CF1-E362-857301BB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17ACF-0C5E-66C8-5F69-67644A9AB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7C7C0-D7F0-068E-F21B-6B298EF9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155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93E9A5-CBBD-AC45-9F6A-69C70F8B5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F86DAE-49FF-5042-7101-850FFF496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D6431-0433-85F7-8AD4-8DB2CED8A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2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5D681-CFDA-7F5B-F14F-8DD028780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AF4B-3633-B946-B8D1-8C5DE7DB7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8EA55-579C-678D-632C-BB18736580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BE96-C6D9-BE4F-D80A-D72BAC9D1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0D0C2-2791-8770-8491-249985B80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13E10-5849-1665-B2D5-DFE1FCE33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69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C6F09-B2CE-1F36-F01F-EEAA7D0D9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B1D5A8-0F69-3AC2-2506-BC339E4C1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08DE8-1FEF-564A-5343-2D18C3688A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B88B6A-0ED6-48DB-ADCE-7C80BD66D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50EAB-9BA8-99A0-CABD-13825BA53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AA7625-FE31-5B09-B173-7B1081F3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59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B78A8-09CD-82AB-A0AE-42D157C34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C6278-40CA-629C-B35C-EC62865C5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7CFD0-4576-9336-B3B7-A89110A2C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065E9-A2E9-4F5D-F937-75622489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30450-C32B-36EE-29CB-A317B88E3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079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ECB3695-5500-706D-C116-7236C6550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BAA437-8CB9-7162-BD02-7CFB06E311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3456F-5B7C-3FA8-2216-A2FEC6918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3E0C1-5DB4-B442-DB1D-188EFBB6D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4C702-9F6B-5D2E-1D3C-9586EA18A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29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8B8E9A-5E89-B022-FB05-3A0A9E1B0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18C98-518B-B9C1-3F04-5C714A6E58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F22964-2073-B8C4-EF3D-3ADE0D4E2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F9B39-6B82-F157-92F8-979DBBCA9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53C6D-35B6-F559-6D5B-914B115AE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4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9.xml"/><Relationship Id="rId5" Type="http://schemas.openxmlformats.org/officeDocument/2006/relationships/chart" Target="../charts/chart8.xml"/><Relationship Id="rId4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265471"/>
            <a:ext cx="7543801" cy="5603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              </a:t>
            </a:r>
            <a:r>
              <a:rPr lang="en-IN" sz="2800" b="1" dirty="0"/>
              <a:t>COMPREHENSIVE ANALYSIS AND INSIGHTS</a:t>
            </a:r>
            <a:br>
              <a:rPr lang="en-IN" sz="2800" b="1" dirty="0"/>
            </a:br>
            <a:r>
              <a:rPr lang="en-IN" sz="2800" b="1" dirty="0"/>
              <a:t>                 ( BARE INTERNATIONAL ANALYSIS)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2000" dirty="0"/>
              <a:t>Compiled by- Ritik Bhardwaj</a:t>
            </a:r>
            <a:br>
              <a:rPr lang="en-IN" sz="2000"/>
            </a:br>
            <a:endParaRPr sz="20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0570D55-0336-7BE3-CBBF-5ED1F8D2DC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106676"/>
              </p:ext>
            </p:extLst>
          </p:nvPr>
        </p:nvGraphicFramePr>
        <p:xfrm>
          <a:off x="5122607" y="2900515"/>
          <a:ext cx="3421626" cy="17009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56542C1C-541D-30E8-02C5-75BD952D78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8403863"/>
              </p:ext>
            </p:extLst>
          </p:nvPr>
        </p:nvGraphicFramePr>
        <p:xfrm>
          <a:off x="1002890" y="2349909"/>
          <a:ext cx="2723536" cy="20254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🎯 Objectives of the Analysis</a:t>
            </a:r>
          </a:p>
          <a:p>
            <a:r>
              <a:rPr lang="en-US" b="1" dirty="0"/>
              <a:t>Evaluate Style Advisor performance</a:t>
            </a:r>
            <a:r>
              <a:rPr lang="en-US" dirty="0"/>
              <a:t> using key metrics such as Evaluation Scores, engagement levels, and customer feedback.</a:t>
            </a:r>
          </a:p>
          <a:p>
            <a:r>
              <a:rPr lang="en-US" b="1" dirty="0"/>
              <a:t>Classify performance levels</a:t>
            </a:r>
            <a:r>
              <a:rPr lang="en-US" dirty="0"/>
              <a:t> by assigning grades (High, Average, Low, Bottom) based on </a:t>
            </a:r>
            <a:r>
              <a:rPr lang="en-US" dirty="0" err="1"/>
              <a:t>Evaluation_Score</a:t>
            </a:r>
            <a:r>
              <a:rPr lang="en-US" dirty="0"/>
              <a:t>.</a:t>
            </a:r>
          </a:p>
          <a:p>
            <a:r>
              <a:rPr lang="en-US" b="1" dirty="0"/>
              <a:t>Identify performance variations across regions</a:t>
            </a:r>
            <a:r>
              <a:rPr lang="en-US" dirty="0"/>
              <a:t> by analyzing average scores and percentage of High Performers in each Zone.</a:t>
            </a:r>
          </a:p>
          <a:p>
            <a:r>
              <a:rPr lang="en-US" b="1" dirty="0"/>
              <a:t>Discover trends over time</a:t>
            </a:r>
            <a:r>
              <a:rPr lang="en-US" dirty="0"/>
              <a:t> to understand whether performance is improving, declining, or remaining consistent.</a:t>
            </a:r>
          </a:p>
          <a:p>
            <a:r>
              <a:rPr lang="en-US" b="1" dirty="0"/>
              <a:t>Highlight strengths and weaknesses</a:t>
            </a:r>
            <a:r>
              <a:rPr lang="en-US" dirty="0"/>
              <a:t> across different evaluation criteria to pinpoint areas of excellence and areas needing improvement.</a:t>
            </a:r>
          </a:p>
          <a:p>
            <a:r>
              <a:rPr lang="en-US" b="1" dirty="0"/>
              <a:t>Generate visual insights</a:t>
            </a:r>
            <a:r>
              <a:rPr lang="en-US" dirty="0"/>
              <a:t> through pivot tables and charts for clear and effective data interpretation.</a:t>
            </a:r>
          </a:p>
          <a:p>
            <a:r>
              <a:rPr lang="en-US" b="1" dirty="0"/>
              <a:t>Provide actionable recommendations</a:t>
            </a:r>
            <a:r>
              <a:rPr lang="en-US" dirty="0"/>
              <a:t> to improve Style Advisor performance and enhance customer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696758"/>
          </a:xfrm>
        </p:spPr>
        <p:txBody>
          <a:bodyPr/>
          <a:lstStyle/>
          <a:p>
            <a:r>
              <a:rPr lang="en-IN" b="1" dirty="0"/>
              <a:t>                           </a:t>
            </a:r>
            <a:r>
              <a:rPr b="1" dirty="0"/>
              <a:t>Data Overview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7EB4BB-F3E0-CA41-823A-6958B49F66AD}"/>
              </a:ext>
            </a:extLst>
          </p:cNvPr>
          <p:cNvSpPr txBox="1"/>
          <p:nvPr/>
        </p:nvSpPr>
        <p:spPr>
          <a:xfrm>
            <a:off x="1041911" y="1484671"/>
            <a:ext cx="7315815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500" dirty="0"/>
              <a:t>Dataset contains 61 evaluations across 4 zones.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500" dirty="0"/>
              <a:t>Each row represents one Style Advisor evaluation.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500" dirty="0"/>
              <a:t>Key columns include: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err="1"/>
              <a:t>Evaluation_Date</a:t>
            </a:r>
            <a:endParaRPr lang="en-US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err="1"/>
              <a:t>Evaluation_Score</a:t>
            </a:r>
            <a:endParaRPr lang="en-US" sz="25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500" dirty="0" err="1"/>
              <a:t>Performance_Grade</a:t>
            </a:r>
            <a:endParaRPr lang="en-US" sz="2500" dirty="0"/>
          </a:p>
          <a:p>
            <a:r>
              <a:rPr lang="en-US" sz="2500" dirty="0"/>
              <a:t>4. Criteria scores (Ambience, First Impression, Discovery, Trial, Recommendation, Closing, 8.1, 8.2, 8.3)</a:t>
            </a:r>
          </a:p>
          <a:p>
            <a:r>
              <a:rPr lang="en-US" sz="2500" dirty="0"/>
              <a:t>5. Data is used to analyze performance trends and compare regions.</a:t>
            </a:r>
            <a:endParaRPr lang="en-IN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Grading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A70F24-08BE-B19E-339D-D798BA5A07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5078694"/>
              </p:ext>
            </p:extLst>
          </p:nvPr>
        </p:nvGraphicFramePr>
        <p:xfrm>
          <a:off x="402509" y="1690689"/>
          <a:ext cx="7886700" cy="1780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0">
                  <a:extLst>
                    <a:ext uri="{9D8B030D-6E8A-4147-A177-3AD203B41FA5}">
                      <a16:colId xmlns:a16="http://schemas.microsoft.com/office/drawing/2014/main" val="3285359014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522744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Score Range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Performance Grade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1016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90% – 100%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High Performer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112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70% – 89%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Average Performer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96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50% – 69%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 Performer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5735047"/>
                  </a:ext>
                </a:extLst>
              </a:tr>
              <a:tr h="253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Below 50%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Bottom Performer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1407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355" y="127820"/>
            <a:ext cx="5496232" cy="521109"/>
          </a:xfrm>
        </p:spPr>
        <p:txBody>
          <a:bodyPr>
            <a:noAutofit/>
          </a:bodyPr>
          <a:lstStyle/>
          <a:p>
            <a:r>
              <a:rPr lang="en-IN" sz="3600" b="1" dirty="0"/>
              <a:t>            </a:t>
            </a:r>
            <a:r>
              <a:rPr sz="3600" b="1" dirty="0"/>
              <a:t>Pivot Table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7355" y="689394"/>
            <a:ext cx="7039405" cy="5211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 Pivot table: </a:t>
            </a:r>
            <a:r>
              <a:rPr lang="en-IN" dirty="0"/>
              <a:t> </a:t>
            </a:r>
            <a:r>
              <a:rPr dirty="0"/>
              <a:t>Average Evaluation</a:t>
            </a:r>
            <a:r>
              <a:rPr lang="en-IN" dirty="0"/>
              <a:t> </a:t>
            </a:r>
            <a:r>
              <a:rPr dirty="0"/>
              <a:t>Score by Zone</a:t>
            </a:r>
          </a:p>
        </p:txBody>
      </p:sp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B2C7FB3A-75CC-2C3A-AB5A-9980F1E1C5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1209834"/>
              </p:ext>
            </p:extLst>
          </p:nvPr>
        </p:nvGraphicFramePr>
        <p:xfrm>
          <a:off x="5211097" y="2074606"/>
          <a:ext cx="3628103" cy="3421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8E8845B-8679-8A8C-1E8E-A2F967A00615}"/>
              </a:ext>
            </a:extLst>
          </p:cNvPr>
          <p:cNvSpPr txBox="1"/>
          <p:nvPr/>
        </p:nvSpPr>
        <p:spPr>
          <a:xfrm>
            <a:off x="678426" y="2359742"/>
            <a:ext cx="46604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• Key observations-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North Zone </a:t>
            </a:r>
            <a:r>
              <a:rPr lang="en-US" dirty="0"/>
              <a:t>has the highest number of evaluations.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South</a:t>
            </a:r>
            <a:r>
              <a:rPr lang="en-US" dirty="0"/>
              <a:t> and </a:t>
            </a:r>
            <a:r>
              <a:rPr lang="en-US" b="1" dirty="0"/>
              <a:t>West </a:t>
            </a:r>
            <a:r>
              <a:rPr lang="en-US" dirty="0"/>
              <a:t>have similar evaluation counts.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East Zone </a:t>
            </a:r>
            <a:r>
              <a:rPr lang="en-US" dirty="0"/>
              <a:t>has the lowest evaluation count.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Evaluation distribution varies across regions, which may impact performance comparisons.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 Performer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% of High Performers by Region</a:t>
            </a:r>
          </a:p>
          <a:p>
            <a:r>
              <a:rPr dirty="0"/>
              <a:t>• Highlight highest region</a:t>
            </a:r>
          </a:p>
          <a:p>
            <a:endParaRPr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BAA354D-DD45-4C34-B17D-8C74950B31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0025754"/>
              </p:ext>
            </p:extLst>
          </p:nvPr>
        </p:nvGraphicFramePr>
        <p:xfrm>
          <a:off x="1175527" y="2920180"/>
          <a:ext cx="6287155" cy="29489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70DCB9B-51C5-42EE-99A1-3BF883E6E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888322"/>
              </p:ext>
            </p:extLst>
          </p:nvPr>
        </p:nvGraphicFramePr>
        <p:xfrm>
          <a:off x="157316" y="-98321"/>
          <a:ext cx="4109885" cy="179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8323CF42-067A-4FC0-9ABC-F41A0B9ABF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1722492"/>
              </p:ext>
            </p:extLst>
          </p:nvPr>
        </p:nvGraphicFramePr>
        <p:xfrm>
          <a:off x="4267201" y="142569"/>
          <a:ext cx="4839192" cy="3265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 descr="This bar chart shows the average evaluation score for each zone, providing insights into the performance of different regions.&#10;" title="Average Evaluation Score by Zone ">
            <a:extLst>
              <a:ext uri="{FF2B5EF4-FFF2-40B4-BE49-F238E27FC236}">
                <a16:creationId xmlns:a16="http://schemas.microsoft.com/office/drawing/2014/main" id="{4E6D2CEF-1E91-42E6-8B6C-290C463C34B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4319882"/>
              </p:ext>
            </p:extLst>
          </p:nvPr>
        </p:nvGraphicFramePr>
        <p:xfrm>
          <a:off x="396881" y="1700980"/>
          <a:ext cx="3722835" cy="21201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32AC5E0F-BA9F-494F-A724-48B1D4ACDD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7364047"/>
              </p:ext>
            </p:extLst>
          </p:nvPr>
        </p:nvGraphicFramePr>
        <p:xfrm>
          <a:off x="4572000" y="3036858"/>
          <a:ext cx="4493342" cy="36785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9BAA354D-DD45-4C34-B17D-8C74950B31A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0531467"/>
              </p:ext>
            </p:extLst>
          </p:nvPr>
        </p:nvGraphicFramePr>
        <p:xfrm>
          <a:off x="157317" y="3821142"/>
          <a:ext cx="4414684" cy="2995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8168" y="365126"/>
            <a:ext cx="5477182" cy="1109713"/>
          </a:xfrm>
        </p:spPr>
        <p:txBody>
          <a:bodyPr/>
          <a:lstStyle/>
          <a:p>
            <a:r>
              <a:rPr lang="en-IN" b="1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 High/Low Scoring Regions</a:t>
            </a:r>
          </a:p>
          <a:p>
            <a:r>
              <a:rPr lang="en-US" b="1" dirty="0"/>
              <a:t>North Zone</a:t>
            </a:r>
            <a:r>
              <a:rPr lang="en-US" dirty="0"/>
              <a:t> has the </a:t>
            </a:r>
            <a:r>
              <a:rPr lang="en-US" b="1" dirty="0"/>
              <a:t>highest average score</a:t>
            </a:r>
            <a:r>
              <a:rPr lang="en-US" dirty="0"/>
              <a:t> and strongest overall performance.</a:t>
            </a:r>
          </a:p>
          <a:p>
            <a:r>
              <a:rPr lang="en-US" b="1" dirty="0"/>
              <a:t>South Zone</a:t>
            </a:r>
            <a:r>
              <a:rPr lang="en-US" dirty="0"/>
              <a:t> shows the </a:t>
            </a:r>
            <a:r>
              <a:rPr lang="en-US" b="1" dirty="0"/>
              <a:t>lowest average score</a:t>
            </a:r>
            <a:r>
              <a:rPr lang="en-US" dirty="0"/>
              <a:t>, indicating the biggest need for improvement.</a:t>
            </a:r>
          </a:p>
          <a:p>
            <a:r>
              <a:rPr lang="en-US" dirty="0"/>
              <a:t>East and West zones show </a:t>
            </a:r>
            <a:r>
              <a:rPr lang="en-US" b="1" dirty="0"/>
              <a:t>moderate performance</a:t>
            </a:r>
            <a:r>
              <a:rPr lang="en-US" dirty="0"/>
              <a:t>, close to each other.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Trends Over Time</a:t>
            </a:r>
          </a:p>
          <a:p>
            <a:r>
              <a:rPr lang="en-US" dirty="0"/>
              <a:t>Performance scores </a:t>
            </a:r>
            <a:r>
              <a:rPr lang="en-US" b="1" dirty="0"/>
              <a:t>fluctuate throughout the month</a:t>
            </a:r>
            <a:r>
              <a:rPr lang="en-US" dirty="0"/>
              <a:t>, showing inconsistency.</a:t>
            </a:r>
          </a:p>
          <a:p>
            <a:r>
              <a:rPr lang="en-US" dirty="0"/>
              <a:t>Scores </a:t>
            </a:r>
            <a:r>
              <a:rPr lang="en-US" b="1" dirty="0"/>
              <a:t>peak in the middle</a:t>
            </a:r>
            <a:r>
              <a:rPr lang="en-US" dirty="0"/>
              <a:t> of the month.</a:t>
            </a:r>
          </a:p>
          <a:p>
            <a:r>
              <a:rPr lang="en-US" dirty="0"/>
              <a:t>A noticeable </a:t>
            </a:r>
            <a:r>
              <a:rPr lang="en-US" b="1" dirty="0"/>
              <a:t>decline occurs toward month-end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</a:t>
            </a:r>
            <a:r>
              <a:rPr b="1" dirty="0"/>
              <a:t>Recommendations</a:t>
            </a: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CE35DC8-8EFE-EF2E-81AC-741F4AD6DE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877910"/>
            <a:ext cx="7999306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South Zone advisors.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weak criteria (Discovery, Closing, Trial).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Encourage strong engagement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 North Zone best practices.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performance regularly.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667261"/>
          </a:xfrm>
        </p:spPr>
        <p:txBody>
          <a:bodyPr/>
          <a:lstStyle/>
          <a:p>
            <a:r>
              <a:rPr lang="en-IN" dirty="0"/>
              <a:t>                               </a:t>
            </a:r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analysis shows clear performance variation across regions, with the </a:t>
            </a:r>
            <a:r>
              <a:rPr lang="en-US" b="1" dirty="0"/>
              <a:t>North Zone</a:t>
            </a:r>
            <a:r>
              <a:rPr lang="en-US" dirty="0"/>
              <a:t> performing strongest and the </a:t>
            </a:r>
            <a:r>
              <a:rPr lang="en-US" b="1" dirty="0"/>
              <a:t>South Zone</a:t>
            </a:r>
            <a:r>
              <a:rPr lang="en-US" dirty="0"/>
              <a:t> requiring improvement.</a:t>
            </a:r>
          </a:p>
          <a:p>
            <a:r>
              <a:rPr lang="en-US" dirty="0"/>
              <a:t>Trend analysis indicates </a:t>
            </a:r>
            <a:r>
              <a:rPr lang="en-US" b="1" dirty="0"/>
              <a:t>fluctuating performance over time</a:t>
            </a:r>
            <a:r>
              <a:rPr lang="en-US" dirty="0"/>
              <a:t>, highlighting the need for continuous monitoring.</a:t>
            </a:r>
          </a:p>
          <a:p>
            <a:r>
              <a:rPr lang="en-US" dirty="0"/>
              <a:t>Heatmap results reveal specific criteria where Style Advisors excel and areas needing focused training.</a:t>
            </a:r>
          </a:p>
          <a:p>
            <a:r>
              <a:rPr lang="en-US" dirty="0"/>
              <a:t>Overall, the evaluation provides a </a:t>
            </a:r>
            <a:r>
              <a:rPr lang="en-US" b="1" dirty="0"/>
              <a:t>data-driven understanding</a:t>
            </a:r>
            <a:r>
              <a:rPr lang="en-US" dirty="0"/>
              <a:t> of Style Advisor strengths and weaknesses.</a:t>
            </a:r>
          </a:p>
          <a:p>
            <a:r>
              <a:rPr lang="en-US" b="1" dirty="0"/>
              <a:t>Next Steps</a:t>
            </a:r>
          </a:p>
          <a:p>
            <a:r>
              <a:rPr lang="en-US" dirty="0"/>
              <a:t>Implement targeted coaching based on low-performing criteria and zones.</a:t>
            </a:r>
          </a:p>
          <a:p>
            <a:r>
              <a:rPr lang="en-US" dirty="0"/>
              <a:t>Share high-performing practices from top zones across all regions.</a:t>
            </a:r>
          </a:p>
          <a:p>
            <a:r>
              <a:rPr lang="en-US" dirty="0"/>
              <a:t>Continue monthly tracking to maintain consistent performance improvement.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70" y="365127"/>
            <a:ext cx="4592279" cy="549274"/>
          </a:xfrm>
        </p:spPr>
        <p:txBody>
          <a:bodyPr/>
          <a:lstStyle/>
          <a:p>
            <a:r>
              <a:rPr b="1" dirty="0"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941" y="1160206"/>
            <a:ext cx="8327923" cy="5260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200" b="1" dirty="0"/>
              <a:t>Q1: Which zone performed the best overall?</a:t>
            </a:r>
          </a:p>
          <a:p>
            <a:pPr marL="0" indent="0">
              <a:buNone/>
            </a:pPr>
            <a:r>
              <a:rPr lang="en-US" sz="1200" b="1" dirty="0"/>
              <a:t>A:</a:t>
            </a:r>
            <a:r>
              <a:rPr lang="en-US" sz="1200" dirty="0"/>
              <a:t> The </a:t>
            </a:r>
            <a:r>
              <a:rPr lang="en-US" sz="1200" b="1" dirty="0"/>
              <a:t>North Zone</a:t>
            </a:r>
            <a:r>
              <a:rPr lang="en-US" sz="1200" dirty="0"/>
              <a:t> had the highest average evaluation score and the most High Performers.</a:t>
            </a:r>
          </a:p>
          <a:p>
            <a:pPr marL="0" indent="0">
              <a:buNone/>
            </a:pPr>
            <a:r>
              <a:rPr lang="en-US" sz="1200" b="1" dirty="0"/>
              <a:t>Q2: Which zone needs the most improvement?</a:t>
            </a:r>
          </a:p>
          <a:p>
            <a:pPr marL="0" indent="0">
              <a:buNone/>
            </a:pPr>
            <a:r>
              <a:rPr lang="en-US" sz="1200" b="1" dirty="0"/>
              <a:t>A:</a:t>
            </a:r>
            <a:r>
              <a:rPr lang="en-US" sz="1200" dirty="0"/>
              <a:t> The </a:t>
            </a:r>
            <a:r>
              <a:rPr lang="en-US" sz="1200" b="1" dirty="0"/>
              <a:t>South Zone</a:t>
            </a:r>
            <a:r>
              <a:rPr lang="en-US" sz="1200" dirty="0"/>
              <a:t>, as it had the lowest average evaluation score and a higher count of Low Performers.</a:t>
            </a:r>
          </a:p>
          <a:p>
            <a:pPr marL="0" indent="0">
              <a:buNone/>
            </a:pPr>
            <a:r>
              <a:rPr lang="en-US" sz="1200" b="1" dirty="0"/>
              <a:t>Q3: What were the weakest performance criteria based on the heatmap?</a:t>
            </a:r>
          </a:p>
          <a:p>
            <a:pPr marL="0" indent="0">
              <a:buNone/>
            </a:pPr>
            <a:r>
              <a:rPr lang="en-US" sz="1200" b="1" dirty="0"/>
              <a:t>A:</a:t>
            </a:r>
            <a:r>
              <a:rPr lang="en-US" sz="1200" dirty="0"/>
              <a:t> Criteria such as </a:t>
            </a:r>
            <a:r>
              <a:rPr lang="en-US" sz="1200" b="1" dirty="0"/>
              <a:t>Discovery, Closing, and Trial</a:t>
            </a:r>
            <a:r>
              <a:rPr lang="en-US" sz="1200" dirty="0"/>
              <a:t> (or whichever is low in your data) showed lower average scores and require focused training.</a:t>
            </a:r>
          </a:p>
          <a:p>
            <a:pPr marL="0" indent="0">
              <a:buNone/>
            </a:pPr>
            <a:br>
              <a:rPr lang="en-US" sz="1200" dirty="0"/>
            </a:br>
            <a:r>
              <a:rPr lang="en-US" sz="1200" b="1" dirty="0"/>
              <a:t>Q4: How does advisor engagement affect performance?</a:t>
            </a:r>
          </a:p>
          <a:p>
            <a:pPr marL="0" indent="0">
              <a:buNone/>
            </a:pPr>
            <a:r>
              <a:rPr lang="en-US" sz="1200" b="1" dirty="0"/>
              <a:t>A:</a:t>
            </a:r>
            <a:r>
              <a:rPr lang="en-US" sz="1200" dirty="0"/>
              <a:t> Evaluations with </a:t>
            </a:r>
            <a:r>
              <a:rPr lang="en-US" sz="1200" b="1" dirty="0"/>
              <a:t>“Yes” engagement</a:t>
            </a:r>
            <a:r>
              <a:rPr lang="en-US" sz="1200" dirty="0"/>
              <a:t> consistently received higher scores, showing that good communication and body language positively impact performance.</a:t>
            </a:r>
          </a:p>
          <a:p>
            <a:pPr marL="0" indent="0">
              <a:buNone/>
            </a:pPr>
            <a:r>
              <a:rPr lang="en-US" sz="1200" b="1" dirty="0"/>
              <a:t>Q5: What is the key insight from the trend analysis?</a:t>
            </a:r>
          </a:p>
          <a:p>
            <a:pPr marL="0" indent="0">
              <a:buNone/>
            </a:pPr>
            <a:r>
              <a:rPr lang="en-US" sz="1200" b="1" dirty="0"/>
              <a:t>A:</a:t>
            </a:r>
            <a:r>
              <a:rPr lang="en-US" sz="1200" dirty="0"/>
              <a:t> Performance scores </a:t>
            </a:r>
            <a:r>
              <a:rPr lang="en-US" sz="1200" b="1" dirty="0"/>
              <a:t>fluctuate over time</a:t>
            </a:r>
            <a:r>
              <a:rPr lang="en-US" sz="1200" dirty="0"/>
              <a:t>, indicating the need for ongoing training and consistent monitoring.</a:t>
            </a:r>
          </a:p>
          <a:p>
            <a:pPr marL="0" indent="0">
              <a:buNone/>
            </a:pPr>
            <a:r>
              <a:rPr lang="en-US" sz="1200" b="1" dirty="0"/>
              <a:t>Q6: What actions would you recommend to improve overall performance?</a:t>
            </a:r>
          </a:p>
          <a:p>
            <a:pPr marL="0" indent="0">
              <a:buNone/>
            </a:pPr>
            <a:r>
              <a:rPr lang="en-US" sz="1200" b="1" dirty="0"/>
              <a:t>A: </a:t>
            </a:r>
            <a:r>
              <a:rPr lang="en-US" sz="1200" dirty="0"/>
              <a:t>Provide </a:t>
            </a:r>
            <a:r>
              <a:rPr lang="en-US" sz="1200" b="1" dirty="0"/>
              <a:t>targeted coaching</a:t>
            </a:r>
            <a:r>
              <a:rPr lang="en-US" sz="1200" dirty="0"/>
              <a:t> to underperforming advisors.</a:t>
            </a:r>
          </a:p>
          <a:p>
            <a:pPr marL="0" indent="0">
              <a:buNone/>
            </a:pPr>
            <a:r>
              <a:rPr lang="en-US" sz="1200" dirty="0"/>
              <a:t>Share </a:t>
            </a:r>
            <a:r>
              <a:rPr lang="en-US" sz="1200" b="1" dirty="0"/>
              <a:t>best practices</a:t>
            </a:r>
            <a:r>
              <a:rPr lang="en-US" sz="1200" dirty="0"/>
              <a:t> from top-performing zones.</a:t>
            </a:r>
          </a:p>
          <a:p>
            <a:pPr marL="0" indent="0">
              <a:buNone/>
            </a:pPr>
            <a:r>
              <a:rPr lang="en-US" sz="1200" dirty="0"/>
              <a:t>Monitor performance </a:t>
            </a:r>
            <a:r>
              <a:rPr lang="en-US" sz="1200" b="1" dirty="0"/>
              <a:t>monthly</a:t>
            </a:r>
            <a:r>
              <a:rPr lang="en-US" sz="1200" dirty="0"/>
              <a:t> to catch early declines.</a:t>
            </a:r>
          </a:p>
          <a:p>
            <a:pPr marL="0" indent="0">
              <a:buNone/>
            </a:pPr>
            <a:r>
              <a:rPr lang="en-US" sz="1200" b="1" dirty="0"/>
              <a:t>Q7: How can this analysis benefit store operations?</a:t>
            </a:r>
          </a:p>
          <a:p>
            <a:pPr marL="0" indent="0">
              <a:buNone/>
            </a:pPr>
            <a:r>
              <a:rPr lang="en-US" sz="1200" b="1" dirty="0"/>
              <a:t>A:</a:t>
            </a:r>
            <a:r>
              <a:rPr lang="en-US" sz="1200" dirty="0"/>
              <a:t> It helps identify strengths, weaknesses, and training needs, ensuring a </a:t>
            </a:r>
            <a:r>
              <a:rPr lang="en-US" sz="1200" b="1" dirty="0"/>
              <a:t>better customer experience</a:t>
            </a:r>
            <a:r>
              <a:rPr lang="en-US" sz="1200" dirty="0"/>
              <a:t> and improved sales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778</Words>
  <Application>Microsoft Office PowerPoint</Application>
  <PresentationFormat>On-screen Show (4:3)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Introduction &amp; Objectives</vt:lpstr>
      <vt:lpstr>                           Data Overview</vt:lpstr>
      <vt:lpstr>Performance Grading</vt:lpstr>
      <vt:lpstr>            Pivot Table Analysis</vt:lpstr>
      <vt:lpstr>High Performer Analysis</vt:lpstr>
      <vt:lpstr>PowerPoint Presentation</vt:lpstr>
      <vt:lpstr>KEY INSIGHTS</vt:lpstr>
      <vt:lpstr>                      Recommendations</vt:lpstr>
      <vt:lpstr>                               Conclusion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Ritik Bhardwaj</cp:lastModifiedBy>
  <cp:revision>3</cp:revision>
  <dcterms:created xsi:type="dcterms:W3CDTF">2013-01-27T09:14:16Z</dcterms:created>
  <dcterms:modified xsi:type="dcterms:W3CDTF">2025-12-23T09:51:36Z</dcterms:modified>
  <cp:category/>
</cp:coreProperties>
</file>